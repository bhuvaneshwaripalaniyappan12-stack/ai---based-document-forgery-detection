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jpeg" ContentType="image/jpeg"/>
  <Override PartName="/ppt/media/image7.jpeg" ContentType="image/jpeg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  <p:sldMasterId id="2147483650" r:id="rId3"/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4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Double-tap to move the slide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Double-tap to edit the notes format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</a:rPr>
              <a:t>&lt;header&gt;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IN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08252529-72AD-4B77-97CE-DD9849B37109}" type="slidenum">
              <a:rPr b="0" lang="en-IN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56FD45-83B8-4851-88C9-26F40F631B9D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4</a:t>
            </a:fld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69A38FB-3156-48AF-904D-46706B860F06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4</a:t>
            </a:fld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534DC1-2BE2-4F86-B873-165FC8C26AD8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4</a:t>
            </a:fld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A187FF-EBB0-4273-89DF-D2DAADA2612D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4</a:t>
            </a:fld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6B1DF8-A61E-4FAD-9F5F-5AB72CA2CFA2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46200" y="839880"/>
            <a:ext cx="9403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1103400" y="2053080"/>
            <a:ext cx="8946000" cy="419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AC4A9AE-3FEC-4DE2-89A4-09F66F4ECFA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646200" y="839880"/>
            <a:ext cx="940392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103400" y="2053080"/>
            <a:ext cx="8946000" cy="419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DC520D2-8F86-4F9C-8B82-0E264F52FE4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F57D55B-11B3-4657-86BF-DAD6ACD259C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slideLayout" Target="../slideLayouts/slideLayout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10;p15" descr=""/>
          <p:cNvPicPr/>
          <p:nvPr/>
        </p:nvPicPr>
        <p:blipFill>
          <a:blip r:embed="rId2"/>
          <a:srcRect l="3614" t="0" r="0" b="0"/>
          <a:stretch/>
        </p:blipFill>
        <p:spPr>
          <a:xfrm>
            <a:off x="0" y="2669760"/>
            <a:ext cx="4036320" cy="418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" name="Google Shape;11;p15" descr=""/>
          <p:cNvPicPr/>
          <p:nvPr/>
        </p:nvPicPr>
        <p:blipFill>
          <a:blip r:embed="rId3"/>
          <a:srcRect l="35632" t="0" r="0" b="0"/>
          <a:stretch/>
        </p:blipFill>
        <p:spPr>
          <a:xfrm>
            <a:off x="0" y="2892240"/>
            <a:ext cx="1521720" cy="236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Google Shape;12;p15" hidden="1"/>
          <p:cNvSpPr/>
          <p:nvPr/>
        </p:nvSpPr>
        <p:spPr>
          <a:xfrm>
            <a:off x="860904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4cb9c3">
                  <a:alpha val="4000"/>
                </a:srgbClr>
              </a:gs>
              <a:gs pos="36000">
                <a:srgbClr val="4cb9c3">
                  <a:alpha val="3000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3" name="Google Shape;13;p15" descr=""/>
          <p:cNvPicPr/>
          <p:nvPr/>
        </p:nvPicPr>
        <p:blipFill>
          <a:blip r:embed="rId4"/>
          <a:srcRect l="0" t="28812" r="0" b="0"/>
          <a:stretch/>
        </p:blipFill>
        <p:spPr>
          <a:xfrm>
            <a:off x="7999560" y="0"/>
            <a:ext cx="1602720" cy="114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" name="Google Shape;14;p15" descr=""/>
          <p:cNvPicPr/>
          <p:nvPr/>
        </p:nvPicPr>
        <p:blipFill>
          <a:blip r:embed="rId5"/>
          <a:srcRect l="0" t="0" r="0" b="23325"/>
          <a:stretch/>
        </p:blipFill>
        <p:spPr>
          <a:xfrm>
            <a:off x="8605800" y="6095880"/>
            <a:ext cx="992880" cy="7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Google Shape;15;p15" hidden="1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r="5400000" dist="25560" rotWithShape="0">
              <a:srgbClr val="000000">
                <a:alpha val="4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46200" y="1015200"/>
            <a:ext cx="9403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ftr" idx="1"/>
          </p:nvPr>
        </p:nvSpPr>
        <p:spPr>
          <a:xfrm rot="5400000">
            <a:off x="8952120" y="322524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2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2800" strike="noStrike" u="none">
                <a:solidFill>
                  <a:schemeClr val="lt1"/>
                </a:solidFill>
                <a:uFillTx/>
                <a:latin typeface="Century Gothic"/>
                <a:ea typeface="Century Gothic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8B477E7-473E-43FF-85F0-320C2B50EF28}" type="slidenum">
              <a:rPr b="0" lang="en-US" sz="2800" strike="noStrike" u="none">
                <a:solidFill>
                  <a:schemeClr val="lt1"/>
                </a:solidFill>
                <a:uFillTx/>
                <a:latin typeface="Century Gothic"/>
                <a:ea typeface="Century Gothic"/>
              </a:rPr>
              <a:t>&lt;number&gt;</a:t>
            </a:fld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3"/>
          </p:nvPr>
        </p:nvSpPr>
        <p:spPr>
          <a:xfrm rot="5400000">
            <a:off x="10155960" y="179064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28080" rIns="28080" tIns="45720" bIns="45720" anchor="t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6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0;p15" descr=""/>
          <p:cNvPicPr/>
          <p:nvPr/>
        </p:nvPicPr>
        <p:blipFill>
          <a:blip r:embed="rId2"/>
          <a:srcRect l="3614" t="0" r="0" b="0"/>
          <a:stretch/>
        </p:blipFill>
        <p:spPr>
          <a:xfrm>
            <a:off x="0" y="2669760"/>
            <a:ext cx="4036320" cy="418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" name="Google Shape;11;p15" descr=""/>
          <p:cNvPicPr/>
          <p:nvPr/>
        </p:nvPicPr>
        <p:blipFill>
          <a:blip r:embed="rId3"/>
          <a:srcRect l="35632" t="0" r="0" b="0"/>
          <a:stretch/>
        </p:blipFill>
        <p:spPr>
          <a:xfrm>
            <a:off x="0" y="2892240"/>
            <a:ext cx="1521720" cy="236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" name="Google Shape;12;p15" hidden="1"/>
          <p:cNvSpPr/>
          <p:nvPr/>
        </p:nvSpPr>
        <p:spPr>
          <a:xfrm>
            <a:off x="860904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4cb9c3">
                  <a:alpha val="4000"/>
                </a:srgbClr>
              </a:gs>
              <a:gs pos="36000">
                <a:srgbClr val="4cb9c3">
                  <a:alpha val="3000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16" name="Google Shape;13;p15" descr=""/>
          <p:cNvPicPr/>
          <p:nvPr/>
        </p:nvPicPr>
        <p:blipFill>
          <a:blip r:embed="rId4"/>
          <a:srcRect l="0" t="28812" r="0" b="0"/>
          <a:stretch/>
        </p:blipFill>
        <p:spPr>
          <a:xfrm>
            <a:off x="7999560" y="0"/>
            <a:ext cx="1602720" cy="114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Google Shape;14;p15" descr=""/>
          <p:cNvPicPr/>
          <p:nvPr/>
        </p:nvPicPr>
        <p:blipFill>
          <a:blip r:embed="rId5"/>
          <a:srcRect l="0" t="0" r="0" b="23325"/>
          <a:stretch/>
        </p:blipFill>
        <p:spPr>
          <a:xfrm>
            <a:off x="8605800" y="6095880"/>
            <a:ext cx="992880" cy="7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Google Shape;15;p15" hidden="1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r="5400000" dist="25560" rotWithShape="0">
              <a:srgbClr val="000000">
                <a:alpha val="4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46200" y="1015200"/>
            <a:ext cx="940392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1103400" y="2053080"/>
            <a:ext cx="8946000" cy="4194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4"/>
          </p:nvPr>
        </p:nvSpPr>
        <p:spPr>
          <a:xfrm rot="5400000">
            <a:off x="8952120" y="322524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5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2800" strike="noStrike" u="none">
                <a:solidFill>
                  <a:schemeClr val="lt1"/>
                </a:solidFill>
                <a:uFillTx/>
                <a:latin typeface="Century Gothic"/>
                <a:ea typeface="Century Gothic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2A2C064-87FF-4715-8014-C4E995AD4A74}" type="slidenum">
              <a:rPr b="0" lang="en-US" sz="2800" strike="noStrike" u="none">
                <a:solidFill>
                  <a:schemeClr val="lt1"/>
                </a:solidFill>
                <a:uFillTx/>
                <a:latin typeface="Century Gothic"/>
                <a:ea typeface="Century Gothic"/>
              </a:rPr>
              <a:t>&lt;number&gt;</a:t>
            </a:fld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dt" idx="6"/>
          </p:nvPr>
        </p:nvSpPr>
        <p:spPr>
          <a:xfrm rot="5400000">
            <a:off x="10155960" y="179064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28080" rIns="28080" tIns="45720" bIns="45720" anchor="t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6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10;p15" descr=""/>
          <p:cNvPicPr/>
          <p:nvPr/>
        </p:nvPicPr>
        <p:blipFill>
          <a:blip r:embed="rId2"/>
          <a:srcRect l="3614" t="0" r="0" b="0"/>
          <a:stretch/>
        </p:blipFill>
        <p:spPr>
          <a:xfrm>
            <a:off x="0" y="2669760"/>
            <a:ext cx="4036320" cy="4187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7" name="Google Shape;11;p15" descr=""/>
          <p:cNvPicPr/>
          <p:nvPr/>
        </p:nvPicPr>
        <p:blipFill>
          <a:blip r:embed="rId3"/>
          <a:srcRect l="35632" t="0" r="0" b="0"/>
          <a:stretch/>
        </p:blipFill>
        <p:spPr>
          <a:xfrm>
            <a:off x="0" y="2892240"/>
            <a:ext cx="1521720" cy="236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Google Shape;12;p15" hidden="1"/>
          <p:cNvSpPr/>
          <p:nvPr/>
        </p:nvSpPr>
        <p:spPr>
          <a:xfrm>
            <a:off x="8609040" y="1676520"/>
            <a:ext cx="2818800" cy="2818800"/>
          </a:xfrm>
          <a:prstGeom prst="ellipse">
            <a:avLst/>
          </a:prstGeom>
          <a:gradFill rotWithShape="0">
            <a:gsLst>
              <a:gs pos="0">
                <a:srgbClr val="4cb9c3">
                  <a:alpha val="4000"/>
                </a:srgbClr>
              </a:gs>
              <a:gs pos="36000">
                <a:srgbClr val="4cb9c3">
                  <a:alpha val="3000"/>
                </a:srgbClr>
              </a:gs>
              <a:gs pos="69000">
                <a:srgbClr val="4cb9c3">
                  <a:alpha val="0"/>
                </a:srgbClr>
              </a:gs>
              <a:gs pos="100000">
                <a:srgbClr val="4cb9c3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pic>
        <p:nvPicPr>
          <p:cNvPr id="29" name="Google Shape;13;p15" descr=""/>
          <p:cNvPicPr/>
          <p:nvPr/>
        </p:nvPicPr>
        <p:blipFill>
          <a:blip r:embed="rId4"/>
          <a:srcRect l="0" t="28812" r="0" b="0"/>
          <a:stretch/>
        </p:blipFill>
        <p:spPr>
          <a:xfrm>
            <a:off x="7999560" y="0"/>
            <a:ext cx="1602720" cy="1140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" name="Google Shape;14;p15" descr=""/>
          <p:cNvPicPr/>
          <p:nvPr/>
        </p:nvPicPr>
        <p:blipFill>
          <a:blip r:embed="rId5"/>
          <a:srcRect l="0" t="0" r="0" b="23325"/>
          <a:stretch/>
        </p:blipFill>
        <p:spPr>
          <a:xfrm>
            <a:off x="8605800" y="6095880"/>
            <a:ext cx="992880" cy="761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" name="Google Shape;15;p15" hidden="1"/>
          <p:cNvSpPr/>
          <p:nvPr/>
        </p:nvSpPr>
        <p:spPr>
          <a:xfrm>
            <a:off x="10437840" y="0"/>
            <a:ext cx="685080" cy="1142280"/>
          </a:xfrm>
          <a:prstGeom prst="rect">
            <a:avLst/>
          </a:prstGeom>
          <a:solidFill>
            <a:schemeClr val="accent1"/>
          </a:solidFill>
          <a:ln w="0">
            <a:noFill/>
          </a:ln>
          <a:effectLst>
            <a:outerShdw blurRad="38160" dir="5400000" dist="25560" rotWithShape="0">
              <a:srgbClr val="000000">
                <a:alpha val="4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ftr" idx="7"/>
          </p:nvPr>
        </p:nvSpPr>
        <p:spPr>
          <a:xfrm rot="5400000">
            <a:off x="8952120" y="3225240"/>
            <a:ext cx="3859200" cy="304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IN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8"/>
          </p:nvPr>
        </p:nvSpPr>
        <p:spPr>
          <a:xfrm>
            <a:off x="10352520" y="295560"/>
            <a:ext cx="837360" cy="76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2800" strike="noStrike" u="none">
                <a:solidFill>
                  <a:schemeClr val="lt1"/>
                </a:solidFill>
                <a:uFillTx/>
                <a:latin typeface="Century Gothic"/>
                <a:ea typeface="Century Gothic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A702EF7-F497-44D0-89F3-A4F106E8CB18}" type="slidenum">
              <a:rPr b="0" lang="en-US" sz="2800" strike="noStrike" u="none">
                <a:solidFill>
                  <a:schemeClr val="lt1"/>
                </a:solidFill>
                <a:uFillTx/>
                <a:latin typeface="Century Gothic"/>
                <a:ea typeface="Century Gothic"/>
              </a:rPr>
              <a:t>&lt;number&gt;</a:t>
            </a:fld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9"/>
          </p:nvPr>
        </p:nvSpPr>
        <p:spPr>
          <a:xfrm rot="5400000">
            <a:off x="10155960" y="1790640"/>
            <a:ext cx="990000" cy="304200"/>
          </a:xfrm>
          <a:prstGeom prst="rect">
            <a:avLst/>
          </a:prstGeom>
          <a:noFill/>
          <a:ln w="0">
            <a:noFill/>
          </a:ln>
        </p:spPr>
        <p:txBody>
          <a:bodyPr lIns="28080" rIns="28080" tIns="45720" bIns="45720" anchor="t">
            <a:noAutofit/>
          </a:bodyPr>
          <a:lstStyle>
            <a:lvl1pPr indent="0">
              <a:buNone/>
              <a:defRPr b="0" lang="en-IN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IN" sz="4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IN" sz="32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IN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IN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hyperlink" Target="https://1drv.ms/x/c/6764aba1aa88c2bf/IQDW4pMIBzWoQKfei2iH1nMnAU8uxY3FxnXMDsFeKPsMG8Y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image" Target="../media/image5.png"/><Relationship Id="rId3" Type="http://schemas.openxmlformats.org/officeDocument/2006/relationships/image" Target="../media/image6.jpeg"/><Relationship Id="rId4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1407240" y="359640"/>
            <a:ext cx="9143280" cy="93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en-US" sz="2000" strike="noStrike" u="none">
                <a:solidFill>
                  <a:schemeClr val="accent1"/>
                </a:solidFill>
                <a:uFillTx/>
                <a:latin typeface="Times New Roman"/>
                <a:ea typeface="Times New Roman"/>
              </a:rPr>
              <a:t>K. RAMAKRISHNAN COLLEGE OF TECHNOLOGY</a:t>
            </a:r>
            <a:br>
              <a:rPr sz="2000"/>
            </a:br>
            <a:r>
              <a:rPr b="1" lang="en-US" sz="2000" strike="noStrike" u="none">
                <a:solidFill>
                  <a:schemeClr val="accent1"/>
                </a:solidFill>
                <a:uFillTx/>
                <a:latin typeface="Times New Roman"/>
                <a:ea typeface="Times New Roman"/>
              </a:rPr>
              <a:t>(AUTONOMOUS), TIRUCHIRAPALLI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44" name="Google Shape;143;p1" descr=""/>
          <p:cNvPicPr/>
          <p:nvPr/>
        </p:nvPicPr>
        <p:blipFill>
          <a:blip r:embed="rId1"/>
          <a:stretch/>
        </p:blipFill>
        <p:spPr>
          <a:xfrm>
            <a:off x="200520" y="241200"/>
            <a:ext cx="1065960" cy="105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" name="Google Shape;144;p1" descr=""/>
          <p:cNvPicPr/>
          <p:nvPr/>
        </p:nvPicPr>
        <p:blipFill>
          <a:blip r:embed="rId2"/>
          <a:stretch/>
        </p:blipFill>
        <p:spPr>
          <a:xfrm>
            <a:off x="10690920" y="236520"/>
            <a:ext cx="1153440" cy="11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Google Shape;145;p1"/>
          <p:cNvSpPr/>
          <p:nvPr/>
        </p:nvSpPr>
        <p:spPr>
          <a:xfrm>
            <a:off x="1407240" y="1804320"/>
            <a:ext cx="9839160" cy="57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3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AI-BASED DOCUMENT FORGERY DETECTION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Google Shape;146;p1"/>
          <p:cNvSpPr/>
          <p:nvPr/>
        </p:nvSpPr>
        <p:spPr>
          <a:xfrm>
            <a:off x="219240" y="6453360"/>
            <a:ext cx="9900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  <a:ea typeface="Arial"/>
            </a:endParaRPr>
          </a:p>
        </p:txBody>
      </p:sp>
      <p:sp>
        <p:nvSpPr>
          <p:cNvPr id="48" name="Google Shape;147;p1"/>
          <p:cNvSpPr/>
          <p:nvPr/>
        </p:nvSpPr>
        <p:spPr>
          <a:xfrm>
            <a:off x="10958040" y="6426720"/>
            <a:ext cx="2167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Times New Roman"/>
              <a:ea typeface="Times New Roman"/>
            </a:endParaRPr>
          </a:p>
        </p:txBody>
      </p:sp>
      <p:sp>
        <p:nvSpPr>
          <p:cNvPr id="49" name="Google Shape;148;p1"/>
          <p:cNvSpPr/>
          <p:nvPr/>
        </p:nvSpPr>
        <p:spPr>
          <a:xfrm>
            <a:off x="3115080" y="3022560"/>
            <a:ext cx="58104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PRESENTED BY,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0" name="Straight Connector 5"/>
          <p:cNvCxnSpPr/>
          <p:nvPr/>
        </p:nvCxnSpPr>
        <p:spPr>
          <a:xfrm flipV="1">
            <a:off x="1537200" y="1524240"/>
            <a:ext cx="8883360" cy="33840"/>
          </a:xfrm>
          <a:prstGeom prst="straightConnector1">
            <a:avLst/>
          </a:prstGeom>
          <a:ln w="0">
            <a:solidFill>
              <a:srgbClr val="b0100e"/>
            </a:solidFill>
          </a:ln>
        </p:spPr>
      </p:cxnSp>
      <p:sp>
        <p:nvSpPr>
          <p:cNvPr id="51" name="TextBox 8"/>
          <p:cNvSpPr/>
          <p:nvPr/>
        </p:nvSpPr>
        <p:spPr>
          <a:xfrm>
            <a:off x="4632120" y="2388960"/>
            <a:ext cx="28832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600" strike="noStrike" u="none">
                <a:solidFill>
                  <a:srgbClr val="0070c0"/>
                </a:solidFill>
                <a:uFillTx/>
                <a:latin typeface="Agency FB"/>
                <a:ea typeface="Arial"/>
              </a:rPr>
              <a:t>A Comparative study of Deep learning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TextBox 10"/>
          <p:cNvSpPr/>
          <p:nvPr/>
        </p:nvSpPr>
        <p:spPr>
          <a:xfrm>
            <a:off x="4983840" y="3625200"/>
            <a:ext cx="26766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Team Members Name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53" name="Straight Connector 12"/>
          <p:cNvCxnSpPr/>
          <p:nvPr/>
        </p:nvCxnSpPr>
        <p:spPr>
          <a:xfrm>
            <a:off x="5074200" y="3932640"/>
            <a:ext cx="175932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54" name="TextBox 13"/>
          <p:cNvSpPr/>
          <p:nvPr/>
        </p:nvSpPr>
        <p:spPr>
          <a:xfrm>
            <a:off x="3248280" y="4104720"/>
            <a:ext cx="224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BHARATH RAJ R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TextBox 15"/>
          <p:cNvSpPr/>
          <p:nvPr/>
        </p:nvSpPr>
        <p:spPr>
          <a:xfrm>
            <a:off x="3248280" y="4491720"/>
            <a:ext cx="19944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BHUVANESHWARI P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TextBox 16"/>
          <p:cNvSpPr/>
          <p:nvPr/>
        </p:nvSpPr>
        <p:spPr>
          <a:xfrm>
            <a:off x="3248280" y="4863600"/>
            <a:ext cx="12250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DEEPAK VK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7" name="TextBox 17"/>
          <p:cNvSpPr/>
          <p:nvPr/>
        </p:nvSpPr>
        <p:spPr>
          <a:xfrm>
            <a:off x="3248280" y="5235840"/>
            <a:ext cx="16340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DEVALAKSHMI V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TextBox 19"/>
          <p:cNvSpPr/>
          <p:nvPr/>
        </p:nvSpPr>
        <p:spPr>
          <a:xfrm>
            <a:off x="6779520" y="3996360"/>
            <a:ext cx="21459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2503811724321017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TextBox 20"/>
          <p:cNvSpPr/>
          <p:nvPr/>
        </p:nvSpPr>
        <p:spPr>
          <a:xfrm>
            <a:off x="6779520" y="4390200"/>
            <a:ext cx="23803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2503811724322018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TextBox 21"/>
          <p:cNvSpPr/>
          <p:nvPr/>
        </p:nvSpPr>
        <p:spPr>
          <a:xfrm>
            <a:off x="6779520" y="4761720"/>
            <a:ext cx="20786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2503811724321019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1" name="TextBox 22"/>
          <p:cNvSpPr/>
          <p:nvPr/>
        </p:nvSpPr>
        <p:spPr>
          <a:xfrm>
            <a:off x="6779520" y="5110920"/>
            <a:ext cx="2400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2503811724322020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Num" idx="13"/>
          </p:nvPr>
        </p:nvSpPr>
        <p:spPr>
          <a:xfrm>
            <a:off x="10352520" y="295560"/>
            <a:ext cx="83736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28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5BF19BB-1E5D-4061-96FA-A4B0C43EF75E}" type="slidenum">
              <a:rPr b="0" lang="en-US" sz="28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3" name="Google Shape;174;g2df84bd36ed_0_14" descr=""/>
          <p:cNvPicPr/>
          <p:nvPr/>
        </p:nvPicPr>
        <p:blipFill>
          <a:blip r:embed="rId1"/>
          <a:stretch/>
        </p:blipFill>
        <p:spPr>
          <a:xfrm>
            <a:off x="200520" y="241200"/>
            <a:ext cx="1065960" cy="105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" name="Google Shape;175;g2df84bd36ed_0_14" descr=""/>
          <p:cNvPicPr/>
          <p:nvPr/>
        </p:nvPicPr>
        <p:blipFill>
          <a:blip r:embed="rId2"/>
          <a:stretch/>
        </p:blipFill>
        <p:spPr>
          <a:xfrm>
            <a:off x="10690920" y="236520"/>
            <a:ext cx="1153440" cy="11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Google Shape;176;g2df84bd36ed_0_14"/>
          <p:cNvSpPr/>
          <p:nvPr/>
        </p:nvSpPr>
        <p:spPr>
          <a:xfrm>
            <a:off x="3799800" y="402480"/>
            <a:ext cx="45921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marL="457200" algn="ctr">
              <a:lnSpc>
                <a:spcPct val="120000"/>
              </a:lnSpc>
              <a:spcBef>
                <a:spcPts val="326"/>
              </a:spcBef>
              <a:tabLst>
                <a:tab algn="l" pos="0"/>
              </a:tabLst>
            </a:pPr>
            <a:r>
              <a:rPr b="1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OBJECTIVES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6" name="TextBox 176"/>
          <p:cNvSpPr/>
          <p:nvPr/>
        </p:nvSpPr>
        <p:spPr>
          <a:xfrm>
            <a:off x="1826640" y="1973880"/>
            <a:ext cx="10606320" cy="313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• </a:t>
            </a: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Develop an AI-based system for automated preliminary document verification.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• </a:t>
            </a: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Accept scanned documents or document images as input.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• </a:t>
            </a: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Improve document quality using image preprocessing.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• </a:t>
            </a: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Extract text using Optical Character Recognition (OCR).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• </a:t>
            </a: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Analyse visual and textual features using a trained ML/DL model.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• </a:t>
            </a: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Identify possible modifications and suspicious regions.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• </a:t>
            </a:r>
            <a:r>
              <a:rPr b="0" lang="en-IN" sz="20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Reduce manual verification effort and provide faster screening.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sldNum" idx="14"/>
          </p:nvPr>
        </p:nvSpPr>
        <p:spPr>
          <a:xfrm>
            <a:off x="10352520" y="295560"/>
            <a:ext cx="83736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28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C3F3844-7B9D-49A7-AC45-47F0530B2EFB}" type="slidenum">
              <a:rPr b="0" lang="en-US" sz="28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&lt;number&gt;</a:t>
            </a:fld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68" name="Google Shape;165;g2df84bd36ed_0_7" descr=""/>
          <p:cNvPicPr/>
          <p:nvPr/>
        </p:nvPicPr>
        <p:blipFill>
          <a:blip r:embed="rId1"/>
          <a:stretch/>
        </p:blipFill>
        <p:spPr>
          <a:xfrm>
            <a:off x="200520" y="241200"/>
            <a:ext cx="1065960" cy="105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9" name="Google Shape;166;g2df84bd36ed_0_7" descr=""/>
          <p:cNvPicPr/>
          <p:nvPr/>
        </p:nvPicPr>
        <p:blipFill>
          <a:blip r:embed="rId2"/>
          <a:stretch/>
        </p:blipFill>
        <p:spPr>
          <a:xfrm>
            <a:off x="10690920" y="236520"/>
            <a:ext cx="1153440" cy="11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Google Shape;167;g2df84bd36ed_0_7"/>
          <p:cNvSpPr/>
          <p:nvPr/>
        </p:nvSpPr>
        <p:spPr>
          <a:xfrm>
            <a:off x="3052440" y="452880"/>
            <a:ext cx="5514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PROBLEM IDENTIFICATION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TextBox 167"/>
          <p:cNvSpPr/>
          <p:nvPr/>
        </p:nvSpPr>
        <p:spPr>
          <a:xfrm>
            <a:off x="653040" y="2070000"/>
            <a:ext cx="11352240" cy="21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IN" sz="19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• </a:t>
            </a:r>
            <a:r>
              <a:rPr b="0" lang="en-IN" sz="19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Forged documents can contain subtle changes in text, spacing, images or backgrounds.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IN" sz="19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• </a:t>
            </a:r>
            <a:r>
              <a:rPr b="0" lang="en-IN" sz="19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Manual checking requires significant time and human effort.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IN" sz="19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• </a:t>
            </a:r>
            <a:r>
              <a:rPr b="0" lang="en-IN" sz="19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General image-forgery methods may not work well for structured document images.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IN" sz="19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• </a:t>
            </a:r>
            <a:r>
              <a:rPr b="0" lang="en-IN" sz="19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Scanning, compression, resizing and photographing can weaken forensic traces.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1199"/>
              </a:spcAft>
            </a:pPr>
            <a:r>
              <a:rPr b="0" lang="en-IN" sz="19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• </a:t>
            </a:r>
            <a:r>
              <a:rPr b="0" lang="en-IN" sz="19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Advanced detection methods may require large datasets and high computational resources.</a:t>
            </a:r>
            <a:endParaRPr b="0" lang="en-IN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/>
          </p:nvPr>
        </p:nvSpPr>
        <p:spPr>
          <a:xfrm>
            <a:off x="3760920" y="142200"/>
            <a:ext cx="4669560" cy="649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IN" sz="25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Flow Diagram</a:t>
            </a:r>
            <a:endParaRPr b="0" lang="en-IN" sz="2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sldNum" idx="15"/>
          </p:nvPr>
        </p:nvSpPr>
        <p:spPr>
          <a:xfrm>
            <a:off x="10352520" y="295560"/>
            <a:ext cx="83736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2800" strike="noStrike" u="none">
                <a:solidFill>
                  <a:schemeClr val="lt1"/>
                </a:solidFill>
                <a:uFillTx/>
                <a:latin typeface="Century Gothic"/>
                <a:ea typeface="Century Gothic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AD96BB8A-E629-47C4-96BC-4FD2B17CE3B4}" type="slidenum">
              <a:rPr b="0" lang="en-US" sz="2800" strike="noStrike" u="none">
                <a:solidFill>
                  <a:schemeClr val="lt1"/>
                </a:solidFill>
                <a:uFillTx/>
                <a:latin typeface="Century Gothic"/>
                <a:ea typeface="Century Gothic"/>
              </a:rPr>
              <a:t>4</a:t>
            </a:fld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74" name="Google Shape;193;g3f6aa4618a4_0_0" descr=""/>
          <p:cNvPicPr/>
          <p:nvPr/>
        </p:nvPicPr>
        <p:blipFill>
          <a:blip r:embed="rId1"/>
          <a:stretch/>
        </p:blipFill>
        <p:spPr>
          <a:xfrm>
            <a:off x="200520" y="241200"/>
            <a:ext cx="1065960" cy="105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194;g3f6aa4618a4_0_0" descr=""/>
          <p:cNvPicPr/>
          <p:nvPr/>
        </p:nvPicPr>
        <p:blipFill>
          <a:blip r:embed="rId2"/>
          <a:stretch/>
        </p:blipFill>
        <p:spPr>
          <a:xfrm>
            <a:off x="10690920" y="236520"/>
            <a:ext cx="1153440" cy="11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Rectangle 20"/>
          <p:cNvSpPr/>
          <p:nvPr/>
        </p:nvSpPr>
        <p:spPr>
          <a:xfrm>
            <a:off x="4902480" y="1013040"/>
            <a:ext cx="2166480" cy="719280"/>
          </a:xfrm>
          <a:prstGeom prst="rect">
            <a:avLst/>
          </a:prstGeom>
          <a:solidFill>
            <a:srgbClr val="ffffff"/>
          </a:solidFill>
          <a:ln>
            <a:solidFill>
              <a:srgbClr val="9e5e9b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1.Document Upload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Rectangle 21"/>
          <p:cNvSpPr/>
          <p:nvPr/>
        </p:nvSpPr>
        <p:spPr>
          <a:xfrm>
            <a:off x="4895640" y="2015640"/>
            <a:ext cx="2166480" cy="564480"/>
          </a:xfrm>
          <a:prstGeom prst="rect">
            <a:avLst/>
          </a:prstGeom>
          <a:solidFill>
            <a:srgbClr val="ffffff"/>
          </a:solidFill>
          <a:ln>
            <a:solidFill>
              <a:srgbClr val="9e5e9b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2.Image preprocessing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Rectangle 22"/>
          <p:cNvSpPr/>
          <p:nvPr/>
        </p:nvSpPr>
        <p:spPr>
          <a:xfrm>
            <a:off x="4842000" y="2809080"/>
            <a:ext cx="2166480" cy="564480"/>
          </a:xfrm>
          <a:prstGeom prst="rect">
            <a:avLst/>
          </a:prstGeom>
          <a:solidFill>
            <a:srgbClr val="ffffff"/>
          </a:solidFill>
          <a:ln>
            <a:solidFill>
              <a:srgbClr val="9e5e9b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3.OCR / Text Extraction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9" name="Rectangle 23"/>
          <p:cNvSpPr/>
          <p:nvPr/>
        </p:nvSpPr>
        <p:spPr>
          <a:xfrm>
            <a:off x="4842000" y="3617640"/>
            <a:ext cx="2166480" cy="564480"/>
          </a:xfrm>
          <a:prstGeom prst="rect">
            <a:avLst/>
          </a:prstGeom>
          <a:solidFill>
            <a:srgbClr val="ffffff"/>
          </a:solidFill>
          <a:ln>
            <a:solidFill>
              <a:srgbClr val="9e5e9b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4.Feature Extraction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0" name="Rectangle 24"/>
          <p:cNvSpPr/>
          <p:nvPr/>
        </p:nvSpPr>
        <p:spPr>
          <a:xfrm>
            <a:off x="4804200" y="4487400"/>
            <a:ext cx="2166480" cy="564480"/>
          </a:xfrm>
          <a:prstGeom prst="rect">
            <a:avLst/>
          </a:prstGeom>
          <a:solidFill>
            <a:srgbClr val="ffffff"/>
          </a:solidFill>
          <a:ln>
            <a:solidFill>
              <a:srgbClr val="9e5e9b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5.AI Forgery Detection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Rectangle 25"/>
          <p:cNvSpPr/>
          <p:nvPr/>
        </p:nvSpPr>
        <p:spPr>
          <a:xfrm>
            <a:off x="4804200" y="5335200"/>
            <a:ext cx="2166480" cy="564480"/>
          </a:xfrm>
          <a:prstGeom prst="rect">
            <a:avLst/>
          </a:prstGeom>
          <a:solidFill>
            <a:srgbClr val="ffffff"/>
          </a:solidFill>
          <a:ln>
            <a:solidFill>
              <a:srgbClr val="9e5e9b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6.Original / Modified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2" name="Rectangle 26"/>
          <p:cNvSpPr/>
          <p:nvPr/>
        </p:nvSpPr>
        <p:spPr>
          <a:xfrm>
            <a:off x="4804200" y="6153480"/>
            <a:ext cx="2166480" cy="649080"/>
          </a:xfrm>
          <a:prstGeom prst="rect">
            <a:avLst/>
          </a:prstGeom>
          <a:solidFill>
            <a:srgbClr val="ffffff"/>
          </a:solidFill>
          <a:ln>
            <a:solidFill>
              <a:srgbClr val="9e5e9b"/>
            </a:solidFill>
            <a:rou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IN" sz="14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7. Suspicious Region 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83" name="Straight Arrow Connector 32"/>
          <p:cNvCxnSpPr>
            <a:stCxn id="76" idx="2"/>
          </p:cNvCxnSpPr>
          <p:nvPr/>
        </p:nvCxnSpPr>
        <p:spPr>
          <a:xfrm>
            <a:off x="5985720" y="1732320"/>
            <a:ext cx="11160" cy="32328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84" name="Straight Arrow Connector 48"/>
          <p:cNvCxnSpPr/>
          <p:nvPr/>
        </p:nvCxnSpPr>
        <p:spPr>
          <a:xfrm>
            <a:off x="5925240" y="2630160"/>
            <a:ext cx="720" cy="18792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85" name="Straight Arrow Connector 49"/>
          <p:cNvCxnSpPr>
            <a:stCxn id="78" idx="2"/>
            <a:endCxn id="79" idx="0"/>
          </p:cNvCxnSpPr>
          <p:nvPr/>
        </p:nvCxnSpPr>
        <p:spPr>
          <a:xfrm>
            <a:off x="5925240" y="3373560"/>
            <a:ext cx="360" cy="24444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86" name="Straight Arrow Connector 50"/>
          <p:cNvCxnSpPr/>
          <p:nvPr/>
        </p:nvCxnSpPr>
        <p:spPr>
          <a:xfrm>
            <a:off x="5881320" y="4232880"/>
            <a:ext cx="13680" cy="26532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87" name="Straight Arrow Connector 51"/>
          <p:cNvCxnSpPr>
            <a:endCxn id="81" idx="0"/>
          </p:cNvCxnSpPr>
          <p:nvPr/>
        </p:nvCxnSpPr>
        <p:spPr>
          <a:xfrm flipH="1">
            <a:off x="5887440" y="5096520"/>
            <a:ext cx="1080" cy="23904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  <p:cxnSp>
        <p:nvCxnSpPr>
          <p:cNvPr id="88" name="Straight Arrow Connector 52"/>
          <p:cNvCxnSpPr>
            <a:stCxn id="81" idx="2"/>
            <a:endCxn id="82" idx="0"/>
          </p:cNvCxnSpPr>
          <p:nvPr/>
        </p:nvCxnSpPr>
        <p:spPr>
          <a:xfrm>
            <a:off x="5887440" y="5899680"/>
            <a:ext cx="360" cy="254160"/>
          </a:xfrm>
          <a:prstGeom prst="straightConnector1">
            <a:avLst/>
          </a:prstGeom>
          <a:ln w="0">
            <a:solidFill>
              <a:srgbClr val="000000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200;g2df84bd36ed_0_21" descr=""/>
          <p:cNvPicPr/>
          <p:nvPr/>
        </p:nvPicPr>
        <p:blipFill>
          <a:blip r:embed="rId1"/>
          <a:stretch/>
        </p:blipFill>
        <p:spPr>
          <a:xfrm>
            <a:off x="87480" y="23040"/>
            <a:ext cx="1065960" cy="105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oogle Shape;201;g2df84bd36ed_0_21" descr=""/>
          <p:cNvPicPr/>
          <p:nvPr/>
        </p:nvPicPr>
        <p:blipFill>
          <a:blip r:embed="rId2"/>
          <a:stretch/>
        </p:blipFill>
        <p:spPr>
          <a:xfrm>
            <a:off x="11037960" y="0"/>
            <a:ext cx="1153440" cy="11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Google Shape;202;g2df84bd36ed_0_21"/>
          <p:cNvSpPr/>
          <p:nvPr/>
        </p:nvSpPr>
        <p:spPr>
          <a:xfrm>
            <a:off x="3648600" y="511200"/>
            <a:ext cx="489384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marL="457200" algn="ctr">
              <a:lnSpc>
                <a:spcPct val="120000"/>
              </a:lnSpc>
              <a:spcBef>
                <a:spcPts val="326"/>
              </a:spcBef>
              <a:tabLst>
                <a:tab algn="l" pos="0"/>
              </a:tabLst>
            </a:pPr>
            <a:r>
              <a:rPr b="1" lang="en-IN" sz="22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LITERATURE SURVEY - 2023-2026</a:t>
            </a:r>
            <a:endParaRPr b="0" lang="en-IN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TextBox 95"/>
          <p:cNvSpPr/>
          <p:nvPr/>
        </p:nvSpPr>
        <p:spPr>
          <a:xfrm>
            <a:off x="914400" y="2664000"/>
            <a:ext cx="10240920" cy="6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2000" strike="noStrike" u="none">
                <a:solidFill>
                  <a:srgbClr val="000000"/>
                </a:solidFill>
                <a:uFillTx/>
                <a:latin typeface="Arial"/>
              </a:rPr>
              <a:t>Literature Survey Reference:</a:t>
            </a: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400" strike="noStrike" u="sng">
                <a:solidFill>
                  <a:srgbClr val="0066cc"/>
                </a:solidFill>
                <a:uFillTx/>
                <a:latin typeface="Arial"/>
                <a:hlinkClick r:id="rId3"/>
              </a:rPr>
              <a:t>https://1drv.ms/x/c/6764aba1aa88c2bf/IQDW4pMIBzWoQKfei2iH1nMnAU8uxY3FxnXMDsFeKPsMG8Y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208;g2e32826aebc_0_4"/>
          <p:cNvSpPr/>
          <p:nvPr/>
        </p:nvSpPr>
        <p:spPr>
          <a:xfrm>
            <a:off x="3787200" y="503640"/>
            <a:ext cx="461736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 algn="ctr">
              <a:lnSpc>
                <a:spcPct val="120000"/>
              </a:lnSpc>
              <a:spcBef>
                <a:spcPts val="326"/>
              </a:spcBef>
              <a:tabLst>
                <a:tab algn="l" pos="0"/>
              </a:tabLst>
            </a:pPr>
            <a:r>
              <a:rPr b="1" lang="en-IN" sz="2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RESEARCH METHODOLOGY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94" name="Google Shape;209;g2e32826aebc_0_4" descr=""/>
          <p:cNvPicPr/>
          <p:nvPr/>
        </p:nvPicPr>
        <p:blipFill>
          <a:blip r:embed="rId1"/>
          <a:stretch/>
        </p:blipFill>
        <p:spPr>
          <a:xfrm>
            <a:off x="200520" y="241200"/>
            <a:ext cx="1065960" cy="105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5" name="Google Shape;210;g2e32826aebc_0_4" descr=""/>
          <p:cNvPicPr/>
          <p:nvPr/>
        </p:nvPicPr>
        <p:blipFill>
          <a:blip r:embed="rId2"/>
          <a:stretch/>
        </p:blipFill>
        <p:spPr>
          <a:xfrm>
            <a:off x="10690920" y="236520"/>
            <a:ext cx="1153440" cy="11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6" name="TextBox 4"/>
          <p:cNvSpPr/>
          <p:nvPr/>
        </p:nvSpPr>
        <p:spPr>
          <a:xfrm>
            <a:off x="150840" y="2101320"/>
            <a:ext cx="6098760" cy="6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Collect original document images from authorized sources.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7" name="TextBox 6"/>
          <p:cNvSpPr/>
          <p:nvPr/>
        </p:nvSpPr>
        <p:spPr>
          <a:xfrm>
            <a:off x="84240" y="1733760"/>
            <a:ext cx="19810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800" strike="noStrike" u="none">
                <a:solidFill>
                  <a:schemeClr val="accent1"/>
                </a:solidFill>
                <a:uFillTx/>
                <a:latin typeface="Arial"/>
                <a:ea typeface="Arial"/>
              </a:rPr>
              <a:t>1.Data Collection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8" name="TextBox 8"/>
          <p:cNvSpPr/>
          <p:nvPr/>
        </p:nvSpPr>
        <p:spPr>
          <a:xfrm>
            <a:off x="147960" y="2496960"/>
            <a:ext cx="7464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Create controlled fake versions by altering text, photos, signatures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9" name="TextBox 9"/>
          <p:cNvSpPr/>
          <p:nvPr/>
        </p:nvSpPr>
        <p:spPr>
          <a:xfrm>
            <a:off x="147960" y="2898720"/>
            <a:ext cx="71161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Label images as  forged and protect all personal information.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TextBox 10"/>
          <p:cNvSpPr/>
          <p:nvPr/>
        </p:nvSpPr>
        <p:spPr>
          <a:xfrm>
            <a:off x="6420960" y="1665000"/>
            <a:ext cx="2156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800" strike="noStrike" u="none">
                <a:solidFill>
                  <a:schemeClr val="accent1"/>
                </a:solidFill>
                <a:uFillTx/>
                <a:latin typeface="Arial"/>
                <a:ea typeface="Arial"/>
              </a:rPr>
              <a:t>2.Preprocessing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1" name="TextBox 11"/>
          <p:cNvSpPr/>
          <p:nvPr/>
        </p:nvSpPr>
        <p:spPr>
          <a:xfrm>
            <a:off x="6778440" y="2140560"/>
            <a:ext cx="29044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Make all images the same size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2" name="TextBox 12"/>
          <p:cNvSpPr/>
          <p:nvPr/>
        </p:nvSpPr>
        <p:spPr>
          <a:xfrm>
            <a:off x="6763680" y="2499120"/>
            <a:ext cx="5190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Remove noise and improve brightness, contrast, and clarity.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TextBox 13"/>
          <p:cNvSpPr/>
          <p:nvPr/>
        </p:nvSpPr>
        <p:spPr>
          <a:xfrm>
            <a:off x="6757560" y="2858400"/>
            <a:ext cx="5273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Scale pixel values consistently for better model performance.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cxnSp>
        <p:nvCxnSpPr>
          <p:cNvPr id="104" name="Straight Connector 15"/>
          <p:cNvCxnSpPr/>
          <p:nvPr/>
        </p:nvCxnSpPr>
        <p:spPr>
          <a:xfrm flipV="1">
            <a:off x="461880" y="3545280"/>
            <a:ext cx="10893240" cy="110160"/>
          </a:xfrm>
          <a:prstGeom prst="straightConnector1">
            <a:avLst/>
          </a:prstGeom>
          <a:ln w="0">
            <a:solidFill>
              <a:srgbClr val="bfbfbf"/>
            </a:solidFill>
          </a:ln>
        </p:spPr>
      </p:cxnSp>
      <p:sp>
        <p:nvSpPr>
          <p:cNvPr id="105" name="TextBox 22"/>
          <p:cNvSpPr/>
          <p:nvPr/>
        </p:nvSpPr>
        <p:spPr>
          <a:xfrm>
            <a:off x="213120" y="4295160"/>
            <a:ext cx="6135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OCR scans the document and detects printed or handwritten characters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TextBox 23"/>
          <p:cNvSpPr/>
          <p:nvPr/>
        </p:nvSpPr>
        <p:spPr>
          <a:xfrm>
            <a:off x="213120" y="4669560"/>
            <a:ext cx="8364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It converts the text into editable digital data that a computer can read and process.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7" name="TextBox 24"/>
          <p:cNvSpPr/>
          <p:nvPr/>
        </p:nvSpPr>
        <p:spPr>
          <a:xfrm>
            <a:off x="232920" y="5004000"/>
            <a:ext cx="706428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4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The extracted text can be checked for names, dates, numbers, and signs of forgery.</a:t>
            </a: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br>
              <a:rPr sz="1400"/>
            </a:b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8" name="TextBox 25"/>
          <p:cNvSpPr/>
          <p:nvPr/>
        </p:nvSpPr>
        <p:spPr>
          <a:xfrm>
            <a:off x="115560" y="3823920"/>
            <a:ext cx="18590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IN" sz="1600" strike="noStrike" u="none">
                <a:solidFill>
                  <a:schemeClr val="accent1"/>
                </a:solidFill>
                <a:uFillTx/>
                <a:latin typeface="Arial"/>
                <a:ea typeface="Arial"/>
              </a:rPr>
              <a:t>3.OCR Processing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" descr=""/>
          <p:cNvPicPr/>
          <p:nvPr/>
        </p:nvPicPr>
        <p:blipFill>
          <a:blip r:embed="rId1"/>
          <a:stretch/>
        </p:blipFill>
        <p:spPr>
          <a:xfrm>
            <a:off x="1619280" y="1866600"/>
            <a:ext cx="8952840" cy="3374280"/>
          </a:xfrm>
          <a:prstGeom prst="rect">
            <a:avLst/>
          </a:prstGeom>
          <a:noFill/>
          <a:ln w="25200">
            <a:noFill/>
          </a:ln>
        </p:spPr>
      </p:pic>
      <p:pic>
        <p:nvPicPr>
          <p:cNvPr id="110" name="Google Shape;209;g2e32826aebc_0_ 1" descr=""/>
          <p:cNvPicPr/>
          <p:nvPr/>
        </p:nvPicPr>
        <p:blipFill>
          <a:blip r:embed="rId2"/>
          <a:stretch/>
        </p:blipFill>
        <p:spPr>
          <a:xfrm>
            <a:off x="344520" y="385200"/>
            <a:ext cx="1065960" cy="105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1" name="Google Shape;210;g2e32826aebc_0_ 2" descr=""/>
          <p:cNvPicPr/>
          <p:nvPr/>
        </p:nvPicPr>
        <p:blipFill>
          <a:blip r:embed="rId3"/>
          <a:stretch/>
        </p:blipFill>
        <p:spPr>
          <a:xfrm>
            <a:off x="10835280" y="293400"/>
            <a:ext cx="1153440" cy="11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"/>
          <p:cNvSpPr/>
          <p:nvPr/>
        </p:nvSpPr>
        <p:spPr>
          <a:xfrm>
            <a:off x="2664360" y="723960"/>
            <a:ext cx="7575120" cy="577440"/>
          </a:xfrm>
          <a:prstGeom prst="rect">
            <a:avLst/>
          </a:prstGeom>
          <a:noFill/>
          <a:ln w="25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3200" strike="noStrike" u="none">
                <a:solidFill>
                  <a:srgbClr val="000000"/>
                </a:solidFill>
                <a:uFillTx/>
                <a:latin typeface="Arial"/>
              </a:rPr>
              <a:t>COMPARISON OF ALGORITHMS </a:t>
            </a:r>
            <a:endParaRPr b="0" lang="en-IN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209;g2e32826aebc_0_ 2" descr=""/>
          <p:cNvPicPr/>
          <p:nvPr/>
        </p:nvPicPr>
        <p:blipFill>
          <a:blip r:embed="rId1"/>
          <a:stretch/>
        </p:blipFill>
        <p:spPr>
          <a:xfrm>
            <a:off x="344520" y="385200"/>
            <a:ext cx="1065960" cy="105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4" name="Google Shape;210;g2e32826aebc_0_ 3" descr=""/>
          <p:cNvPicPr/>
          <p:nvPr/>
        </p:nvPicPr>
        <p:blipFill>
          <a:blip r:embed="rId2"/>
          <a:stretch/>
        </p:blipFill>
        <p:spPr>
          <a:xfrm>
            <a:off x="10835280" y="293400"/>
            <a:ext cx="1153440" cy="11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"/>
          <p:cNvSpPr/>
          <p:nvPr/>
        </p:nvSpPr>
        <p:spPr>
          <a:xfrm>
            <a:off x="3594240" y="585360"/>
            <a:ext cx="6920280" cy="638280"/>
          </a:xfrm>
          <a:prstGeom prst="rect">
            <a:avLst/>
          </a:prstGeom>
          <a:noFill/>
          <a:ln w="25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3600" strike="noStrike" u="none">
                <a:solidFill>
                  <a:srgbClr val="000000"/>
                </a:solidFill>
                <a:uFillTx/>
                <a:latin typeface="Arial"/>
              </a:rPr>
              <a:t>IMPLEMENTATION IDEA</a:t>
            </a:r>
            <a:endParaRPr b="0" lang="en-IN" sz="3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1103040" y="1671840"/>
            <a:ext cx="10368000" cy="912600"/>
          </a:xfrm>
          <a:prstGeom prst="rect">
            <a:avLst/>
          </a:prstGeom>
          <a:noFill/>
          <a:ln w="25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1800" strike="noStrike" u="none">
                <a:solidFill>
                  <a:srgbClr val="000000"/>
                </a:solidFill>
                <a:uFillTx/>
                <a:latin typeface="Arial"/>
              </a:rPr>
              <a:t>Tools: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Python, OpenCV, OCR (Tesseract/EasyOCR), TensorFlow/PyTorch, CNN, and Google Colab/GPU for model training.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1090440" y="2604600"/>
            <a:ext cx="10372680" cy="912600"/>
          </a:xfrm>
          <a:prstGeom prst="rect">
            <a:avLst/>
          </a:prstGeom>
          <a:noFill/>
          <a:ln w="25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1800" strike="noStrike" u="none">
                <a:solidFill>
                  <a:srgbClr val="000000"/>
                </a:solidFill>
                <a:uFillTx/>
                <a:latin typeface="Arial"/>
              </a:rPr>
              <a:t>Dataset: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Collect authorized original document images and create controlled forged versions by modifying text, photos, signatures, spacing, or backgrounds. Label them as Original and Forged.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"/>
          <p:cNvSpPr/>
          <p:nvPr/>
        </p:nvSpPr>
        <p:spPr>
          <a:xfrm>
            <a:off x="1015920" y="3533040"/>
            <a:ext cx="9852840" cy="638280"/>
          </a:xfrm>
          <a:prstGeom prst="rect">
            <a:avLst/>
          </a:prstGeom>
          <a:noFill/>
          <a:ln w="25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1800" strike="noStrike" u="none">
                <a:solidFill>
                  <a:srgbClr val="000000"/>
                </a:solidFill>
                <a:uFillTx/>
                <a:latin typeface="Arial"/>
              </a:rPr>
              <a:t>Preprocessing: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Resize documents, remove noise, improve brightness and contrast, and normalize pixel values.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1044720" y="4203000"/>
            <a:ext cx="9927000" cy="912600"/>
          </a:xfrm>
          <a:prstGeom prst="rect">
            <a:avLst/>
          </a:prstGeom>
          <a:noFill/>
          <a:ln w="25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1800" strike="noStrike" u="none">
                <a:solidFill>
                  <a:srgbClr val="000000"/>
                </a:solidFill>
                <a:uFillTx/>
                <a:latin typeface="Arial"/>
              </a:rPr>
              <a:t>OCR: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Extract printed or handwritten text and analyse names, dates, numbers, and other text for inconsistencies.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1053000" y="5167080"/>
            <a:ext cx="9946800" cy="912600"/>
          </a:xfrm>
          <a:prstGeom prst="rect">
            <a:avLst/>
          </a:prstGeom>
          <a:noFill/>
          <a:ln w="2520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1800" strike="noStrike" u="none">
                <a:solidFill>
                  <a:srgbClr val="000000"/>
                </a:solidFill>
                <a:uFillTx/>
                <a:latin typeface="Arial"/>
              </a:rPr>
              <a:t>Feature Extraction: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IN" sz="1800" strike="noStrike" u="none">
                <a:solidFill>
                  <a:srgbClr val="000000"/>
                </a:solidFill>
                <a:uFillTx/>
                <a:latin typeface="Arial"/>
              </a:rPr>
              <a:t>Extract visual and textual features such as text regions, layout, spacing, image patterns, and OCR-based information.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5094360" y="274320"/>
            <a:ext cx="19717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b="1" lang="en-IN" sz="27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MODULES </a:t>
            </a:r>
            <a:endParaRPr b="0" lang="en-IN" sz="27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2" name="TextBox 1"/>
          <p:cNvSpPr/>
          <p:nvPr/>
        </p:nvSpPr>
        <p:spPr>
          <a:xfrm>
            <a:off x="1194120" y="1749600"/>
            <a:ext cx="226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1. </a:t>
            </a:r>
            <a:r>
              <a:rPr b="1" lang="en-IN" sz="1800" strike="noStrike" u="none">
                <a:solidFill>
                  <a:schemeClr val="dk1"/>
                </a:solidFill>
                <a:uFillTx/>
                <a:latin typeface="Arial"/>
                <a:ea typeface="Arial"/>
              </a:rPr>
              <a:t>Document Upload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3" name="TextBox 3"/>
          <p:cNvSpPr/>
          <p:nvPr/>
        </p:nvSpPr>
        <p:spPr>
          <a:xfrm>
            <a:off x="1452240" y="2270160"/>
            <a:ext cx="83631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lvl="1" marL="285840" indent="-28584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>
                    <a:lumMod val="75000"/>
                    <a:lumOff val="25000"/>
                  </a:schemeClr>
                </a:solidFill>
                <a:uFillTx/>
                <a:latin typeface="Arial"/>
                <a:ea typeface="Arial"/>
              </a:rPr>
              <a:t>Upload scanned/photographed document image Validate input format and basic image quality</a:t>
            </a:r>
            <a:endParaRPr b="0" lang="en-IN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TextBox 6"/>
          <p:cNvSpPr/>
          <p:nvPr/>
        </p:nvSpPr>
        <p:spPr>
          <a:xfrm>
            <a:off x="1208520" y="2713320"/>
            <a:ext cx="25948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2. Image Preprocessing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5" name="TextBox 7"/>
          <p:cNvSpPr/>
          <p:nvPr/>
        </p:nvSpPr>
        <p:spPr>
          <a:xfrm>
            <a:off x="1326240" y="3182760"/>
            <a:ext cx="9749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1" marL="285840" indent="-28584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Arial"/>
                <a:ea typeface="Arial"/>
              </a:rPr>
              <a:t>Resizing and normalization Grayscale/contrast enhancement Preparation for OCR and AI analysis</a:t>
            </a:r>
            <a:endParaRPr b="0" lang="en-IN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6" name="TextBox 8"/>
          <p:cNvSpPr/>
          <p:nvPr/>
        </p:nvSpPr>
        <p:spPr>
          <a:xfrm>
            <a:off x="1118880" y="3585240"/>
            <a:ext cx="32047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3.OCR &amp; Text Analysis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TextBox 12"/>
          <p:cNvSpPr/>
          <p:nvPr/>
        </p:nvSpPr>
        <p:spPr>
          <a:xfrm>
            <a:off x="1326240" y="3989520"/>
            <a:ext cx="871128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1" marL="285840" indent="-28584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Arial"/>
                <a:ea typeface="Arial"/>
              </a:rPr>
              <a:t>Extract text from the document image identify text regions and analyse consistency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8" name="TextBox 13"/>
          <p:cNvSpPr/>
          <p:nvPr/>
        </p:nvSpPr>
        <p:spPr>
          <a:xfrm>
            <a:off x="1203840" y="4517640"/>
            <a:ext cx="25185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4. AI Forgery Detection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9" name="TextBox 15"/>
          <p:cNvSpPr/>
          <p:nvPr/>
        </p:nvSpPr>
        <p:spPr>
          <a:xfrm>
            <a:off x="1326240" y="4956480"/>
            <a:ext cx="83797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lvl="1" marL="285840" indent="-28584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5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Arial"/>
                <a:ea typeface="Arial"/>
              </a:rPr>
              <a:t>Pass features to the trained ML/DL model Predict likely original or possibly modified</a:t>
            </a:r>
            <a:endParaRPr b="0" lang="en-IN" sz="15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TextBox 16"/>
          <p:cNvSpPr/>
          <p:nvPr/>
        </p:nvSpPr>
        <p:spPr>
          <a:xfrm>
            <a:off x="1118880" y="5518800"/>
            <a:ext cx="273168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IN" sz="18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5. Result &amp; Suspicious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1" name="TextBox 18"/>
          <p:cNvSpPr/>
          <p:nvPr/>
        </p:nvSpPr>
        <p:spPr>
          <a:xfrm>
            <a:off x="1267200" y="6039360"/>
            <a:ext cx="10137960" cy="66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spcAft>
                <a:spcPts val="901"/>
              </a:spcAft>
              <a:buClr>
                <a:srgbClr val="000000"/>
              </a:buClr>
              <a:buFont typeface="Arial"/>
              <a:buChar char="•"/>
            </a:pPr>
            <a:r>
              <a:rPr b="0" lang="en-US" sz="1600" strike="noStrike" u="none">
                <a:solidFill>
                  <a:schemeClr val="dk1">
                    <a:lumMod val="65000"/>
                    <a:lumOff val="35000"/>
                  </a:schemeClr>
                </a:solidFill>
                <a:uFillTx/>
                <a:latin typeface="Arial"/>
                <a:ea typeface="Arial"/>
              </a:rPr>
              <a:t>Display the final authenticity prediction Provide confidence/result information where supported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2" name="Google Shape;209;g2e32826aebc_0_4" descr=""/>
          <p:cNvPicPr/>
          <p:nvPr/>
        </p:nvPicPr>
        <p:blipFill>
          <a:blip r:embed="rId1"/>
          <a:stretch/>
        </p:blipFill>
        <p:spPr>
          <a:xfrm>
            <a:off x="200520" y="241200"/>
            <a:ext cx="1065960" cy="105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3" name="Google Shape;210;g2e32826aebc_0_4" descr=""/>
          <p:cNvPicPr/>
          <p:nvPr/>
        </p:nvPicPr>
        <p:blipFill>
          <a:blip r:embed="rId2"/>
          <a:stretch/>
        </p:blipFill>
        <p:spPr>
          <a:xfrm>
            <a:off x="10690920" y="149400"/>
            <a:ext cx="1153440" cy="1102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5"/>
          <p:cNvSpPr/>
          <p:nvPr/>
        </p:nvSpPr>
        <p:spPr>
          <a:xfrm>
            <a:off x="3612240" y="417960"/>
            <a:ext cx="4744800" cy="8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2400" strike="noStrike" u="none">
                <a:solidFill>
                  <a:srgbClr val="1a1a1a"/>
                </a:solidFill>
                <a:uFillTx/>
                <a:latin typeface="Times New Roman"/>
                <a:ea typeface="Times New Roman"/>
              </a:rPr>
              <a:t>CONCLUSION &amp; FUTURE SCOPE</a:t>
            </a: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35" name="Google Shape;209;g2e32826aebc_0_4" descr=""/>
          <p:cNvPicPr/>
          <p:nvPr/>
        </p:nvPicPr>
        <p:blipFill>
          <a:blip r:embed="rId1"/>
          <a:stretch/>
        </p:blipFill>
        <p:spPr>
          <a:xfrm>
            <a:off x="200520" y="241200"/>
            <a:ext cx="1065960" cy="105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Google Shape;210;g2e32826aebc_0_4" descr=""/>
          <p:cNvPicPr/>
          <p:nvPr/>
        </p:nvPicPr>
        <p:blipFill>
          <a:blip r:embed="rId2"/>
          <a:stretch/>
        </p:blipFill>
        <p:spPr>
          <a:xfrm>
            <a:off x="10690920" y="149400"/>
            <a:ext cx="1153440" cy="11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Box 12"/>
          <p:cNvSpPr/>
          <p:nvPr/>
        </p:nvSpPr>
        <p:spPr>
          <a:xfrm>
            <a:off x="623880" y="1527480"/>
            <a:ext cx="12855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b01513"/>
                </a:solidFill>
                <a:uFillTx/>
                <a:latin typeface="Times New Roman"/>
                <a:ea typeface="Times New Roman"/>
              </a:rPr>
              <a:t>Conclusion: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8" name="TextBox 14"/>
          <p:cNvSpPr/>
          <p:nvPr/>
        </p:nvSpPr>
        <p:spPr>
          <a:xfrm>
            <a:off x="844200" y="2035440"/>
            <a:ext cx="1006776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The proposed AI-based document forgery detection system combines image preprocessing, OCR, feature extraction, and CNN-based classification to identify whether a document is original or possibly modified. It can provide a fast preliminary verification result and highlight suspicious regions when supported.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9" name="TextBox 15"/>
          <p:cNvSpPr/>
          <p:nvPr/>
        </p:nvSpPr>
        <p:spPr>
          <a:xfrm>
            <a:off x="644040" y="3326040"/>
            <a:ext cx="14569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1800" strike="noStrike" u="none">
                <a:solidFill>
                  <a:srgbClr val="b01513"/>
                </a:solidFill>
                <a:uFillTx/>
                <a:latin typeface="Times New Roman"/>
                <a:ea typeface="Times New Roman"/>
              </a:rPr>
              <a:t>Future Scope:</a:t>
            </a: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0" name="TextBox 16"/>
          <p:cNvSpPr/>
          <p:nvPr/>
        </p:nvSpPr>
        <p:spPr>
          <a:xfrm>
            <a:off x="805680" y="3757320"/>
            <a:ext cx="66290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Improve accuracy using larger and more diverse document datasets.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1" name="TextBox 17"/>
          <p:cNvSpPr/>
          <p:nvPr/>
        </p:nvSpPr>
        <p:spPr>
          <a:xfrm>
            <a:off x="804240" y="4170240"/>
            <a:ext cx="59313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Add stronger forgery localization and explainable AI features.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2" name="TextBox 19"/>
          <p:cNvSpPr/>
          <p:nvPr/>
        </p:nvSpPr>
        <p:spPr>
          <a:xfrm>
            <a:off x="788760" y="4660560"/>
            <a:ext cx="874692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IN" sz="160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Deploy the system as a secure web or mobile application for real-time document verification.</a:t>
            </a: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6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/>
          </p:nvPr>
        </p:nvSpPr>
        <p:spPr>
          <a:xfrm>
            <a:off x="3274560" y="2943360"/>
            <a:ext cx="4979160" cy="170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4400" strike="noStrike" u="none">
                <a:solidFill>
                  <a:schemeClr val="dk1"/>
                </a:solidFill>
                <a:uFillTx/>
                <a:latin typeface="Times New Roman"/>
                <a:ea typeface="Times New Roman"/>
              </a:rPr>
              <a:t>THANK YOU</a:t>
            </a:r>
            <a:endParaRPr b="0" lang="en-IN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sldNum" idx="16"/>
          </p:nvPr>
        </p:nvSpPr>
        <p:spPr>
          <a:xfrm>
            <a:off x="10352520" y="295560"/>
            <a:ext cx="837360" cy="76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28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F9A9CDC-9FFE-4A7F-9B13-C696437B3F99}" type="slidenum">
              <a:rPr b="0" lang="en-US" sz="2800" strike="noStrike" u="none">
                <a:solidFill>
                  <a:schemeClr val="lt1"/>
                </a:solidFill>
                <a:uFillTx/>
                <a:latin typeface="Times New Roman"/>
                <a:ea typeface="Times New Roman"/>
              </a:rPr>
              <a:t>4</a:t>
            </a:fld>
            <a:endParaRPr b="0" lang="en-IN" sz="2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145" name="Google Shape;259;p9" descr=""/>
          <p:cNvPicPr/>
          <p:nvPr/>
        </p:nvPicPr>
        <p:blipFill>
          <a:blip r:embed="rId1"/>
          <a:stretch/>
        </p:blipFill>
        <p:spPr>
          <a:xfrm>
            <a:off x="200520" y="241200"/>
            <a:ext cx="1065960" cy="1056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6" name="Google Shape;260;p9" descr=""/>
          <p:cNvPicPr/>
          <p:nvPr/>
        </p:nvPicPr>
        <p:blipFill>
          <a:blip r:embed="rId2"/>
          <a:stretch/>
        </p:blipFill>
        <p:spPr>
          <a:xfrm>
            <a:off x="10690920" y="236520"/>
            <a:ext cx="1153440" cy="110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Google Shape;261;p9"/>
          <p:cNvSpPr/>
          <p:nvPr/>
        </p:nvSpPr>
        <p:spPr>
          <a:xfrm>
            <a:off x="219240" y="6453360"/>
            <a:ext cx="99000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Times New Roman"/>
              <a:ea typeface="Times New Roman"/>
            </a:endParaRPr>
          </a:p>
        </p:txBody>
      </p:sp>
      <p:sp>
        <p:nvSpPr>
          <p:cNvPr id="148" name="Google Shape;262;p9"/>
          <p:cNvSpPr/>
          <p:nvPr/>
        </p:nvSpPr>
        <p:spPr>
          <a:xfrm>
            <a:off x="10958040" y="6426720"/>
            <a:ext cx="438120" cy="30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IN" sz="1400" strike="noStrike" u="none">
              <a:solidFill>
                <a:srgbClr val="000000"/>
              </a:solidFill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on">
  <a:themeElements>
    <a:clrScheme name="Ion">
      <a:dk1>
        <a:srgbClr val="000000"/>
      </a:dk1>
      <a:lt1>
        <a:srgbClr val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487</TotalTime>
  <Application>LibreOfficeDev/24.8.7.2.0$Android_AARCH64 LibreOffice_project/</Application>
  <AppVersion>15.0000</AppVersion>
  <Words>517</Words>
  <Paragraphs>78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2024-02-06T09:37:00Z</dcterms:created>
  <dc:creator>Rahini</dc:creator>
  <dc:description/>
  <dc:language>en-IN</dc:language>
  <cp:lastModifiedBy/>
  <dcterms:modified xsi:type="dcterms:W3CDTF">2026-10-04T22:36:57Z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49F7CAB07F0746DF982BF93406825009_12</vt:lpwstr>
  </property>
  <property fmtid="{D5CDD505-2E9C-101B-9397-08002B2CF9AE}" pid="3" name="KSOProductBuildVer">
    <vt:lpwstr>1033-12.2.0.13431</vt:lpwstr>
  </property>
  <property fmtid="{D5CDD505-2E9C-101B-9397-08002B2CF9AE}" pid="4" name="Notes">
    <vt:i4>7</vt:i4>
  </property>
  <property fmtid="{D5CDD505-2E9C-101B-9397-08002B2CF9AE}" pid="5" name="PresentationFormat">
    <vt:lpwstr>Widescreen</vt:lpwstr>
  </property>
  <property fmtid="{D5CDD505-2E9C-101B-9397-08002B2CF9AE}" pid="6" name="Slides">
    <vt:i4>9</vt:i4>
  </property>
</Properties>
</file>